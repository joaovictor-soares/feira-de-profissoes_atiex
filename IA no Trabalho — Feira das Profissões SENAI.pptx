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(0:00–0:30 com os slides 1 a 5). Se houver fila, use só este slide e vá direto ao slide 5. Fala sugerida: “Você já se perguntou se a inteligência artificial vai tirar o seu emprego? Em 5 minutos você vai testar uma IA e descobrir quem a constrói.” Slides 1 a 4 funcionam também como tela de espera enquanto ninguém está no estande.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FUNIL, passo 1: o cenário (≈5 s). Fala: “Segundo o Fórum Econômico Mundial, até 2030 a IA e a tecnologia criam 170 milhões de empregos e eliminam 92 milhões: o saldo é positivo, mas quase 4 em cada 10 habilidades vão mudar. No Brasil, a profissão que mais cresce em 2026, segundo o LinkedIn, é engenheiro de IA.” Resposta à pergunta da capa: a IA muda as tarefas e cria profissões; quem sabe lidar com ela sai na frente. Dados: WEF Future of Jobs Report 2025 (170 mi criados, 92 mi eliminados, saldo +78 mi, quase 40% das habilidades mudam; mais de 1.000 empresas em 55 economias). LinkedIn Empregos em Alta 2026 (Brasil): 1º lugar Engenheiro(a)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FUNIL, passo 2: da IA em geral para a IA que enxerga (≈5 s). Fala: “Hoje a gente trabalha com um tipo de IA que enxerga: uma câmera mostra imagens e um programa decide o que fazer. Dá para contar pessoas num shopping, achar vagas livres num estacionamento ou contar exercícios numa academia.” Termo técnico indispensável: “visão computacional” = ensinar o computador a olhar imagens e tomar decisões. Não precisa falar mais que isso. As três imagens são das demonstrações da pasta (escadas, vagas e polichinelos). Nesta feira as demonstrações ao vivo são Polichinelos e Vagas; o vídeo das escadas fica como bônus caso haja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FUNIL, passo 3: a profissão e o curso (≈10 s). Fala: “Quem ensina o computador a enxergar é um analista de desenvolvimento de sistemas. Essa profissão existe oficialmente na CBO, a Classificação Brasileira de Ocupações, com o código 2124-05. E o curso que forma esse profissional é o Tecnólogo em Análise e Desenvolvimento de Sistemas, aqui na Faculdade SENAI de São Carlos.” Fatos conferidos: a CBO 2124-05 descreve o profissional que concebe, planeja e constrói sistemas de informação, implanta, faz a manutenção e documenta. “Tecnólogo em análise de desenvolvimento de sistemas” aparece entre os títulos reconhecidos dessa ocupação. A CBO 3171-10 é a ocupação de nível técnico (desenvolvedor de sistemas de TI), ligada ao Técnico em Desenvolvimento de Sistemas citado no convite da feira. A CBO não tem uma ocupação própria só para IA nas fontes consultadas; por isso a profissão de referência é a 2124-05.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/ ATIVIDADE, parte 1 (0:30–2:00). O visitante participa. Instrução em uma frase (10 s): “Fique aqui na frente da câmera e faça 5 polichinelos. O computador vai contar.” Acompanhante: posiciona a pessoa no enquadramento (corpo inteiro, fundo limpo) e deixa o programa contadorPolichinelos.py aberto ANTES de o visitante chegar. Crianças e quem não quiser pular: pode fazer só o movimento de braços ou assistir o colega; ou usar o vídeo de exemplo deste slide. Quando a pessoa terminar, pergunte: “Quantos você acha que fez?” e compare com o número da tela. PLANO B: se a webcam ou o programa falhar, toque o vídeo deste slide (ele repete sozinho) e o grupo conta junto com o visitante.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/ ATIVIDADE, parte 2 (2:00–3:30). O visitante dá um palpite e compara com o computador. Instrução em uma frase (10 s): “Olhe este estacionamento e diga quantas das 8 vagas estão livres. Depois o computador responde.” A graça: o carro branco está estacionando, então a resposta pode mudar de 6 para 5 vagas livres durante o vídeo. Quem observa com atenção acerta; o computador confere cada quadro do vídeo. Demonstrador: roda vagas.py (ou toque o vídeo deste slide e, no próximo slide, o vídeo com a resposta do computador). Atividade extra se sobrar tempo e a fila estiver vazia: mostrar o vídeo das escadas (escadas.mp4) e perguntar quantas pessoas passam. PLANO B: sem computador ou programa, o vídeo deste slide funciona sozinho; o palpite é falado em voz alta e a resposta aparece no slide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(3:30–4:30). Compare palpite × computador e explique em 3 palavras: viu, mediu, decidiu. Fala: “Ele não entende de carro nem de ginástica. Ele recebe imagens, mede coisas simples e aplica regras. No polichinelo: mãos juntas no alto e pés afastados contam 1; depois, mãos separadas e pés juntos liberam a próxima contagem. No estacionamento: se o quadrado da vaga tem muitos detalhes (contornos de um carro), a vaga é ocupada; se está liso, é livre.” Pergunte ao visitante: “Quem acertou mais, você ou o computador?” Sem culpa: o computador não se cansa nem se distrai, mas só faz o que foi programado. Os vídeos deste slide mostram a saída do programa vagas.py (quadrados verdes/vermelhos e o contador “LIVRE: x/8”); funcionam como plano B se o programa não abrir. Bastidores técnicos (só se perguntarem): a vaga é marcada como ocupada quando passam de 3.000 pixels de contorno dentro do quadrado; no polichinelo o programa mede a distância entre mãos e pés usando pontos do corpo detectados pela biblioteca MediaPipe.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(4:30–5:00). Curto, sem discurso. Fala: “Quem escreveu essas regras foi uma pessoa: um analista de desenvolvimento de sistemas, profissão registrada na CBO com o código 2124-05. Esse profissional faz o computador ‘enxergar’ em shoppings, estacionamentos, academias e fábricas. Se você curtiu, o curso de Análise e Desenvolvimento de Sistemas, aqui na Faculdade SENAI de São Carlos, forma esse profissional. Obrigado por participar!” Responda só a pergunta do roteiro da feira: “O que isso tem a ver com essa profissão?” Tudo o que o visitante viu (contar, medir, decidir) é trabalho de quem desenvolve sistemas. Se o visitante perguntar sobre IA e emprego: a IA muda as tarefas e cria profissões; quem entende como ela é construída tem mais opções.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1"/>
            <a:ext cx="1056640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200" dirty="0">
                <a:solidFill>
                  <a:srgbClr val="0A2A5E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93901"/>
            <a:ext cx="10566400" cy="4051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A2A5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1"/>
            <a:ext cx="1056640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200" dirty="0">
                <a:solidFill>
                  <a:srgbClr val="0A2A5E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93901"/>
            <a:ext cx="10566400" cy="4051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A2A5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SENAI">    </p:cNvPr>
          <p:cNvPicPr>
            <a:picLocks noChangeAspect="1"/>
          </p:cNvPicPr>
          <p:nvPr/>
        </p:nvPicPr>
        <p:blipFill>
          <a:blip r:embed="rId1"/>
          <a:srcRect l="0" r="0" t="-63" b="-63"/>
          <a:stretch/>
        </p:blipFill>
        <p:spPr>
          <a:xfrm>
            <a:off x="812800" y="812800"/>
            <a:ext cx="1905000" cy="527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2999740"/>
            <a:ext cx="680212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100" kern="0" dirty="0">
                <a:solidFill>
                  <a:srgbClr val="8DBC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5ª FEIRA DAS PROFISSÕES · 22 E 23/10 · 19H ÀS 22H</a:t>
            </a:r>
            <a:endParaRPr lang="en-US" sz="16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3487420"/>
            <a:ext cx="6802120" cy="181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40"/>
              </a:lnSpc>
              <a:buNone/>
            </a:pPr>
            <a:r>
              <a:rPr lang="en-US" sz="6400" b="1" i="0" dirty="0">
                <a:solidFill>
                  <a:srgbClr val="F2F6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IA vai tirar o seu emprego?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812800" y="5478780"/>
            <a:ext cx="68021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8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Descubra em 5 minutos, testando você mesmo.</a:t>
            </a:r>
            <a:endParaRPr lang="en-US" sz="2200" dirty="0"/>
          </a:p>
        </p:txBody>
      </p:sp>
      <p:pic>
        <p:nvPicPr>
          <p:cNvPr id="6" name="Image 1" descr="Pessoa fazendo polichinelo diante de um fundo claro">    </p:cNvPr>
          <p:cNvPicPr>
            <a:picLocks noChangeAspect="1"/>
          </p:cNvPicPr>
          <p:nvPr/>
        </p:nvPicPr>
        <p:blipFill>
          <a:blip r:embed="rId2"/>
          <a:srcRect l="1143" r="1143" t="0" b="0"/>
          <a:stretch/>
        </p:blipFill>
        <p:spPr>
          <a:xfrm>
            <a:off x="7874000" y="812800"/>
            <a:ext cx="3505200" cy="4445000"/>
          </a:xfrm>
          <a:prstGeom prst="roundRect">
            <a:avLst>
              <a:gd name="adj" fmla="val 5072"/>
            </a:avLst>
          </a:prstGeom>
        </p:spPr>
      </p:pic>
      <p:sp>
        <p:nvSpPr>
          <p:cNvPr id="7" name="Shape 3"/>
          <p:cNvSpPr/>
          <p:nvPr/>
        </p:nvSpPr>
        <p:spPr>
          <a:xfrm>
            <a:off x="7874000" y="5537200"/>
            <a:ext cx="3505200" cy="50800"/>
          </a:xfrm>
          <a:prstGeom prst="rect">
            <a:avLst/>
          </a:prstGeom>
          <a:solidFill>
            <a:srgbClr val="D9232B"/>
          </a:solidFill>
          <a:ln/>
        </p:spPr>
      </p:sp>
      <p:sp>
        <p:nvSpPr>
          <p:cNvPr id="8" name="Text 4"/>
          <p:cNvSpPr/>
          <p:nvPr/>
        </p:nvSpPr>
        <p:spPr>
          <a:xfrm>
            <a:off x="812800" y="623824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DBC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Faculdade SENAI Antonio Adolpho Lobbe · São Carlos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F5FD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 CENÁRIO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0"/>
            <a:ext cx="10883392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0A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mercado de trabalho está mudando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17653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A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Saldo até 2030: +78 milhões de empregos no mundo, com habilidades novas.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256155"/>
            <a:ext cx="3380264" cy="2051050"/>
          </a:xfrm>
          <a:prstGeom prst="roundRect">
            <a:avLst>
              <a:gd name="adj" fmla="val 6037"/>
            </a:avLst>
          </a:prstGeom>
          <a:solidFill>
            <a:srgbClr val="FAFCFF"/>
          </a:solidFill>
          <a:ln w="6350">
            <a:solidFill>
              <a:srgbClr val="D5E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1880" y="2512060"/>
            <a:ext cx="2954507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40"/>
              </a:lnSpc>
              <a:buNone/>
            </a:pPr>
            <a:r>
              <a:rPr lang="en-US" sz="6400" b="1" dirty="0">
                <a:solidFill>
                  <a:srgbClr val="0F5FD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+170 mi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1071880" y="3482340"/>
            <a:ext cx="312118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A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novas vagas criadas no mundo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05789" y="2256155"/>
            <a:ext cx="3380343" cy="2051050"/>
          </a:xfrm>
          <a:prstGeom prst="roundRect">
            <a:avLst>
              <a:gd name="adj" fmla="val 6037"/>
            </a:avLst>
          </a:prstGeom>
          <a:solidFill>
            <a:srgbClr val="FAFCFF"/>
          </a:solidFill>
          <a:ln w="6350">
            <a:solidFill>
              <a:srgbClr val="D5E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1694" y="2512060"/>
            <a:ext cx="2954589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40"/>
              </a:lnSpc>
              <a:buNone/>
            </a:pPr>
            <a:r>
              <a:rPr lang="en-US" sz="6400" b="1" dirty="0">
                <a:solidFill>
                  <a:srgbClr val="0A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−92 mi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4661694" y="3482340"/>
            <a:ext cx="295458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A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vagas que deixam de existir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95682" y="2256155"/>
            <a:ext cx="3380343" cy="2051050"/>
          </a:xfrm>
          <a:prstGeom prst="roundRect">
            <a:avLst>
              <a:gd name="adj" fmla="val 6037"/>
            </a:avLst>
          </a:prstGeom>
          <a:solidFill>
            <a:srgbClr val="FAFCFF"/>
          </a:solidFill>
          <a:ln w="6350">
            <a:solidFill>
              <a:srgbClr val="D5E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1587" y="2512060"/>
            <a:ext cx="2954589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40"/>
              </a:lnSpc>
              <a:buNone/>
            </a:pPr>
            <a:r>
              <a:rPr lang="en-US" sz="6400" b="1" dirty="0">
                <a:solidFill>
                  <a:srgbClr val="0F5FD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 em 10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8251587" y="3482340"/>
            <a:ext cx="29545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A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habilidades de trabalho vão mudar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4513580"/>
            <a:ext cx="10566400" cy="741680"/>
          </a:xfrm>
          <a:prstGeom prst="roundRect">
            <a:avLst>
              <a:gd name="adj" fmla="val 17123"/>
            </a:avLst>
          </a:prstGeom>
          <a:solidFill>
            <a:srgbClr val="0A2A5E"/>
          </a:solidFill>
          <a:ln/>
        </p:spPr>
        <p:txBody>
          <a:bodyPr wrap="square" lIns="242203" tIns="178703" rIns="242203" bIns="178703" rtlCol="0" anchor="ctr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F6F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Brasil, a profissão nº 1 em alta em 2026 é ligada à IA: engenheiro(a) de inteligência artificial.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A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Fontes: Fórum Econômico Mundial, Future of Jobs 2025 (previsão global até 2030) · LinkedIn, Empregos em Alta 2026 (Brasil)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E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F5FD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UM TIPO DE 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0A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Existe uma IA que enxerga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12800" y="1892300"/>
            <a:ext cx="3352800" cy="3088640"/>
          </a:xfrm>
          <a:prstGeom prst="roundRect">
            <a:avLst>
              <a:gd name="adj" fmla="val 4112"/>
            </a:avLst>
          </a:prstGeom>
          <a:solidFill>
            <a:srgbClr val="FAFCFF"/>
          </a:solidFill>
          <a:ln/>
        </p:spPr>
      </p:sp>
      <p:pic>
        <p:nvPicPr>
          <p:cNvPr id="5" name="Image 0" descr="Pessoas em uma escada rolante de shopping, vistas de cima">    </p:cNvPr>
          <p:cNvPicPr>
            <a:picLocks noChangeAspect="1"/>
          </p:cNvPicPr>
          <p:nvPr/>
        </p:nvPicPr>
        <p:blipFill>
          <a:blip r:embed="rId1"/>
          <a:srcRect l="0" r="0" t="2862" b="2862"/>
          <a:stretch/>
        </p:blipFill>
        <p:spPr>
          <a:xfrm>
            <a:off x="812800" y="1892300"/>
            <a:ext cx="3352800" cy="1778000"/>
          </a:xfrm>
          <a:custGeom>
            <a:avLst/>
            <a:gdLst/>
            <a:ahLst/>
            <a:cxnLst/>
            <a:rect l="l" t="t" r="r" b="b"/>
            <a:pathLst>
              <a:path w="3352800" h="1778000">
                <a:moveTo>
                  <a:pt x="0" y="127000"/>
                </a:moveTo>
                <a:arcTo wR="127000" hR="127000" stAng="10800000" swAng="5400000"/>
                <a:lnTo>
                  <a:pt x="3225800" y="0"/>
                </a:lnTo>
                <a:arcTo wR="127000" hR="127000" stAng="16200000" swAng="5400000"/>
                <a:lnTo>
                  <a:pt x="3352800" y="1778000"/>
                </a:lnTo>
                <a:lnTo>
                  <a:pt x="0" y="1778000"/>
                </a:lnTo>
                <a:close/>
              </a:path>
            </a:pathLst>
          </a:custGeom>
        </p:spPr>
      </p:pic>
      <p:sp>
        <p:nvSpPr>
          <p:cNvPr id="6" name="Text 3"/>
          <p:cNvSpPr/>
          <p:nvPr/>
        </p:nvSpPr>
        <p:spPr>
          <a:xfrm>
            <a:off x="1016000" y="3848100"/>
            <a:ext cx="303479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A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Shopping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16000" y="4234180"/>
            <a:ext cx="303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A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Quantas pessoas passam por aqui?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19600" y="1892300"/>
            <a:ext cx="3352800" cy="3088640"/>
          </a:xfrm>
          <a:prstGeom prst="roundRect">
            <a:avLst>
              <a:gd name="adj" fmla="val 4112"/>
            </a:avLst>
          </a:prstGeom>
          <a:solidFill>
            <a:srgbClr val="FAFCFF"/>
          </a:solidFill>
          <a:ln/>
        </p:spPr>
      </p:sp>
      <p:pic>
        <p:nvPicPr>
          <p:cNvPr id="9" name="Image 1" descr="Estacionamento visto de cima, com carros e vagas demarcadas">    </p:cNvPr>
          <p:cNvPicPr>
            <a:picLocks noChangeAspect="1"/>
          </p:cNvPicPr>
          <p:nvPr/>
        </p:nvPicPr>
        <p:blipFill>
          <a:blip r:embed="rId2"/>
          <a:srcRect l="0" r="0" t="2862" b="2862"/>
          <a:stretch/>
        </p:blipFill>
        <p:spPr>
          <a:xfrm>
            <a:off x="4419600" y="1892300"/>
            <a:ext cx="3352800" cy="1778000"/>
          </a:xfrm>
          <a:custGeom>
            <a:avLst/>
            <a:gdLst/>
            <a:ahLst/>
            <a:cxnLst/>
            <a:rect l="l" t="t" r="r" b="b"/>
            <a:pathLst>
              <a:path w="3352800" h="1778000">
                <a:moveTo>
                  <a:pt x="0" y="127000"/>
                </a:moveTo>
                <a:arcTo wR="127000" hR="127000" stAng="10800000" swAng="5400000"/>
                <a:lnTo>
                  <a:pt x="3225800" y="0"/>
                </a:lnTo>
                <a:arcTo wR="127000" hR="127000" stAng="16200000" swAng="5400000"/>
                <a:lnTo>
                  <a:pt x="3352800" y="1778000"/>
                </a:lnTo>
                <a:lnTo>
                  <a:pt x="0" y="1778000"/>
                </a:lnTo>
                <a:close/>
              </a:path>
            </a:pathLst>
          </a:custGeom>
        </p:spPr>
      </p:pic>
      <p:sp>
        <p:nvSpPr>
          <p:cNvPr id="10" name="Text 6"/>
          <p:cNvSpPr/>
          <p:nvPr/>
        </p:nvSpPr>
        <p:spPr>
          <a:xfrm>
            <a:off x="4622800" y="3848100"/>
            <a:ext cx="303479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A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Estacionamento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622800" y="4234180"/>
            <a:ext cx="30347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A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Quais vagas estão livres?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026400" y="1892300"/>
            <a:ext cx="3352800" cy="3088640"/>
          </a:xfrm>
          <a:prstGeom prst="roundRect">
            <a:avLst>
              <a:gd name="adj" fmla="val 4112"/>
            </a:avLst>
          </a:prstGeom>
          <a:solidFill>
            <a:srgbClr val="FAFCFF"/>
          </a:solidFill>
          <a:ln/>
        </p:spPr>
      </p:sp>
      <p:pic>
        <p:nvPicPr>
          <p:cNvPr id="13" name="Image 2" descr="Pessoa fazendo polichinelo com os braços para cima">    </p:cNvPr>
          <p:cNvPicPr>
            <a:picLocks noChangeAspect="1"/>
          </p:cNvPicPr>
          <p:nvPr/>
        </p:nvPicPr>
        <p:blipFill>
          <a:blip r:embed="rId3"/>
          <a:srcRect l="0" r="0" t="0" b="57204"/>
          <a:stretch/>
        </p:blipFill>
        <p:spPr>
          <a:xfrm>
            <a:off x="8026400" y="1892300"/>
            <a:ext cx="3352800" cy="1778000"/>
          </a:xfrm>
          <a:custGeom>
            <a:avLst/>
            <a:gdLst/>
            <a:ahLst/>
            <a:cxnLst/>
            <a:rect l="l" t="t" r="r" b="b"/>
            <a:pathLst>
              <a:path w="3352800" h="1778000">
                <a:moveTo>
                  <a:pt x="0" y="127000"/>
                </a:moveTo>
                <a:arcTo wR="127000" hR="127000" stAng="10800000" swAng="5400000"/>
                <a:lnTo>
                  <a:pt x="3225800" y="0"/>
                </a:lnTo>
                <a:arcTo wR="127000" hR="127000" stAng="16200000" swAng="5400000"/>
                <a:lnTo>
                  <a:pt x="3352800" y="1778000"/>
                </a:lnTo>
                <a:lnTo>
                  <a:pt x="0" y="1778000"/>
                </a:lnTo>
                <a:close/>
              </a:path>
            </a:pathLst>
          </a:custGeom>
        </p:spPr>
      </p:pic>
      <p:sp>
        <p:nvSpPr>
          <p:cNvPr id="14" name="Text 9"/>
          <p:cNvSpPr/>
          <p:nvPr/>
        </p:nvSpPr>
        <p:spPr>
          <a:xfrm>
            <a:off x="8229600" y="3848100"/>
            <a:ext cx="303479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A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Academia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229600" y="4234180"/>
            <a:ext cx="303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A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Quantas repetições foram feitas?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38200" y="5184141"/>
            <a:ext cx="0" cy="386080"/>
          </a:xfrm>
          <a:prstGeom prst="line">
            <a:avLst/>
          </a:prstGeom>
          <a:noFill/>
          <a:ln w="50800">
            <a:solidFill>
              <a:srgbClr val="0F5FD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41400" y="5234941"/>
            <a:ext cx="787500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A2A5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Câmera + programa = decisões automáticas. Isso se chama visão computacional.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F5FD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PROFISSÃO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0A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Quem ensina o computador a enxergar?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12800" y="1892300"/>
            <a:ext cx="4826000" cy="3789680"/>
          </a:xfrm>
          <a:prstGeom prst="roundRect">
            <a:avLst>
              <a:gd name="adj" fmla="val 4021"/>
            </a:avLst>
          </a:prstGeom>
          <a:solidFill>
            <a:srgbClr val="0A2A5E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197100"/>
            <a:ext cx="43428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DBC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OCUPAÇÃO NA CBO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600" y="2512061"/>
            <a:ext cx="4342892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40"/>
              </a:lnSpc>
              <a:buNone/>
            </a:pPr>
            <a:r>
              <a:rPr lang="en-US" sz="6400" b="1" dirty="0">
                <a:solidFill>
                  <a:srgbClr val="F2F6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2124-05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1117600" y="3507741"/>
            <a:ext cx="4342892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F6F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Analista de desenvolvimento de sistemas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7600" y="4279900"/>
            <a:ext cx="43428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8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Planeja, constrói e mantém os sistemas que fazem o computador tomar decisões.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7600" y="4950461"/>
            <a:ext cx="43428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DBC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Versão técnica: desenvolvedor de sistemas de tecnologia da informação, CBO 3171-10.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92800" y="1892300"/>
            <a:ext cx="565099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A2A5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Como chegar lá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895975" y="2332355"/>
            <a:ext cx="5480050" cy="715010"/>
          </a:xfrm>
          <a:prstGeom prst="roundRect">
            <a:avLst>
              <a:gd name="adj" fmla="val 17318"/>
            </a:avLst>
          </a:prstGeom>
          <a:solidFill>
            <a:srgbClr val="FAFCFF"/>
          </a:solidFill>
          <a:ln w="6350">
            <a:solidFill>
              <a:srgbClr val="D5E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75680" y="24612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arcTo hR="228600" wR="228600" stAng="16200000" swAng="5400000"/>
                <a:lnTo>
                  <a:pt x="4572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D5E0F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08"/>
              </a:lnSpc>
              <a:buNone/>
            </a:pPr>
            <a:r>
              <a:rPr lang="en-US" sz="2200" b="1" dirty="0">
                <a:solidFill>
                  <a:srgbClr val="0A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85280" y="2557780"/>
            <a:ext cx="464637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A2A5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Técnico em Desenvolvimento de Sistemas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92800" y="3152141"/>
            <a:ext cx="5486400" cy="1021080"/>
          </a:xfrm>
          <a:prstGeom prst="roundRect">
            <a:avLst>
              <a:gd name="adj" fmla="val 12438"/>
            </a:avLst>
          </a:prstGeom>
          <a:solidFill>
            <a:srgbClr val="0F5FD0"/>
          </a:solidFill>
          <a:ln/>
        </p:spPr>
      </p:sp>
      <p:sp>
        <p:nvSpPr>
          <p:cNvPr id="15" name="Text 13"/>
          <p:cNvSpPr/>
          <p:nvPr/>
        </p:nvSpPr>
        <p:spPr>
          <a:xfrm>
            <a:off x="6070600" y="34340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arcTo hR="228600" wR="228600" stAng="16200000" swAng="5400000"/>
                <a:lnTo>
                  <a:pt x="4572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F2F6F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08"/>
              </a:lnSpc>
              <a:buNone/>
            </a:pPr>
            <a:r>
              <a:rPr lang="en-US" sz="2200" b="1" dirty="0">
                <a:solidFill>
                  <a:srgbClr val="0A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80200" y="3279141"/>
            <a:ext cx="4656836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6F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Tecnólogo em Análise e Desenvolvimento de Sistemas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80200" y="3832861"/>
            <a:ext cx="46568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EF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Faculdade SENAI São Carlos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95975" y="4277995"/>
            <a:ext cx="5480050" cy="760730"/>
          </a:xfrm>
          <a:prstGeom prst="roundRect">
            <a:avLst>
              <a:gd name="adj" fmla="val 16277"/>
            </a:avLst>
          </a:prstGeom>
          <a:solidFill>
            <a:srgbClr val="FAFCFF"/>
          </a:solidFill>
          <a:ln w="6350">
            <a:solidFill>
              <a:srgbClr val="D5E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75680" y="44297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arcTo hR="228600" wR="228600" stAng="16200000" swAng="5400000"/>
                <a:lnTo>
                  <a:pt x="4572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D5E0F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08"/>
              </a:lnSpc>
              <a:buNone/>
            </a:pPr>
            <a:r>
              <a:rPr lang="en-US" sz="2200" b="1" dirty="0">
                <a:solidFill>
                  <a:srgbClr val="0A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85280" y="4406900"/>
            <a:ext cx="464637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A2A5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Analista de desenvolvimento de sistemas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85280" y="4696461"/>
            <a:ext cx="46463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A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CBO 2124-05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A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Fonte: Classificação Brasileira de Ocupações (CBO), famílias 2124 e 3171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5F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6EEF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DESAFIO 1 · SUA VEZ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1"/>
            <a:ext cx="7194550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40"/>
              </a:lnSpc>
              <a:buNone/>
            </a:pPr>
            <a:r>
              <a:rPr lang="en-US" sz="6400" b="1" i="0" dirty="0">
                <a:solidFill>
                  <a:srgbClr val="F2F6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Faça polichinelos.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12800" y="2123439"/>
            <a:ext cx="719455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E6EEF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 computador conta quantos você fez.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368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arcTo hR="203200" wR="203200" stAng="16200000" swAng="5400000"/>
                <a:lnTo>
                  <a:pt x="406400" y="203200"/>
                </a:lnTo>
                <a:arcTo hR="203200" wR="203200" stAng="0" swAng="5400000"/>
                <a:lnTo>
                  <a:pt x="203200" y="406400"/>
                </a:lnTo>
                <a:arcTo hR="203200" wR="203200" stAng="5400000" swAng="5400000"/>
                <a:lnTo>
                  <a:pt x="0" y="203200"/>
                </a:lnTo>
                <a:arcTo hR="203200" wR="203200" stAng="10800000" swAng="5400000"/>
                <a:close/>
              </a:path>
            </a:pathLst>
          </a:custGeom>
          <a:solidFill>
            <a:srgbClr val="F2F6F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0A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4404361"/>
            <a:ext cx="4692491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F6F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Fique de frente para a câmera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800" y="4902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arcTo hR="203200" wR="203200" stAng="16200000" swAng="5400000"/>
                <a:lnTo>
                  <a:pt x="406400" y="203200"/>
                </a:lnTo>
                <a:arcTo hR="203200" wR="203200" stAng="0" swAng="5400000"/>
                <a:lnTo>
                  <a:pt x="203200" y="406400"/>
                </a:lnTo>
                <a:arcTo hR="203200" wR="203200" stAng="5400000" swAng="5400000"/>
                <a:lnTo>
                  <a:pt x="0" y="203200"/>
                </a:lnTo>
                <a:arcTo hR="203200" wR="203200" stAng="10800000" swAng="5400000"/>
                <a:close/>
              </a:path>
            </a:pathLst>
          </a:custGeom>
          <a:solidFill>
            <a:srgbClr val="F2F6F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0A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4937761"/>
            <a:ext cx="303285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F6F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Faça 5 polichinelos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12800" y="5435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arcTo hR="203200" wR="203200" stAng="16200000" swAng="5400000"/>
                <a:lnTo>
                  <a:pt x="406400" y="203200"/>
                </a:lnTo>
                <a:arcTo hR="203200" wR="203200" stAng="0" swAng="5400000"/>
                <a:lnTo>
                  <a:pt x="203200" y="406400"/>
                </a:lnTo>
                <a:arcTo hR="203200" wR="203200" stAng="5400000" swAng="5400000"/>
                <a:lnTo>
                  <a:pt x="0" y="203200"/>
                </a:lnTo>
                <a:arcTo hR="203200" wR="203200" stAng="10800000" swAng="5400000"/>
                <a:close/>
              </a:path>
            </a:pathLst>
          </a:custGeom>
          <a:solidFill>
            <a:srgbClr val="F2F6F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0A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5471161"/>
            <a:ext cx="344176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F6F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Olhe o número na tela</a:t>
            </a:r>
            <a:endParaRPr lang="en-US" sz="2200" dirty="0"/>
          </a:p>
        </p:txBody>
      </p:sp>
      <p:pic>
        <p:nvPicPr>
          <p:cNvPr id="11" name="Image 0" descr="Vídeo de exemplo: pessoa fazendo polichinelos">    </p:cNvPr>
          <p:cNvPicPr>
            <a:picLocks noChangeAspect="1"/>
          </p:cNvPicPr>
          <p:nvPr/>
        </p:nvPicPr>
        <p:blipFill>
          <a:blip r:embed="rId1"/>
          <a:srcRect l="6099" r="6099" t="0" b="0"/>
          <a:stretch/>
        </p:blipFill>
        <p:spPr>
          <a:xfrm>
            <a:off x="8229600" y="812800"/>
            <a:ext cx="3149600" cy="4445000"/>
          </a:xfrm>
          <a:prstGeom prst="roundRect">
            <a:avLst>
              <a:gd name="adj" fmla="val 5645"/>
            </a:avLst>
          </a:prstGeom>
        </p:spPr>
      </p:pic>
      <p:sp>
        <p:nvSpPr>
          <p:cNvPr id="12" name="Text 9"/>
          <p:cNvSpPr/>
          <p:nvPr/>
        </p:nvSpPr>
        <p:spPr>
          <a:xfrm>
            <a:off x="8229600" y="6238239"/>
            <a:ext cx="32440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EF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Exemplo em vídeo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F5FD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DESAFIO 2 · SEU PALPITE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0A2A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Quantas vagas estão livres?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17653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A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Dê o seu palpite. Depois o computador responde.</a:t>
            </a:r>
            <a:endParaRPr lang="en-US" sz="1600" dirty="0"/>
          </a:p>
        </p:txBody>
      </p:sp>
      <p:pic>
        <p:nvPicPr>
          <p:cNvPr id="5" name="Image 0" descr="Vídeo de um estacionamento com 8 vagas, visto de cima, enquanto um carro branco manobra">    </p:cNvPr>
          <p:cNvPicPr>
            <a:picLocks noChangeAspect="1"/>
          </p:cNvPicPr>
          <p:nvPr/>
        </p:nvPicPr>
        <p:blipFill>
          <a:blip r:embed="rId1"/>
          <a:srcRect l="0" r="0" t="44" b="44"/>
          <a:stretch/>
        </p:blipFill>
        <p:spPr>
          <a:xfrm>
            <a:off x="812800" y="2252982"/>
            <a:ext cx="6350000" cy="3568700"/>
          </a:xfrm>
          <a:prstGeom prst="roundRect">
            <a:avLst>
              <a:gd name="adj" fmla="val 3559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7419975" y="2256157"/>
            <a:ext cx="3956050" cy="562610"/>
          </a:xfrm>
          <a:prstGeom prst="roundRect">
            <a:avLst>
              <a:gd name="adj" fmla="val 22009"/>
            </a:avLst>
          </a:prstGeom>
          <a:solidFill>
            <a:srgbClr val="FAFCFF"/>
          </a:solidFill>
          <a:ln w="6350">
            <a:solidFill>
              <a:srgbClr val="D5E0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74280" y="2359661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0F5FD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2F6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56880" y="2405382"/>
            <a:ext cx="3259785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A2A5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Olhe o vídeo por 5 segundos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19975" y="2926714"/>
            <a:ext cx="3956050" cy="562610"/>
          </a:xfrm>
          <a:prstGeom prst="roundRect">
            <a:avLst>
              <a:gd name="adj" fmla="val 22009"/>
            </a:avLst>
          </a:prstGeom>
          <a:solidFill>
            <a:srgbClr val="FAFCFF"/>
          </a:solidFill>
          <a:ln w="6350">
            <a:solidFill>
              <a:srgbClr val="D5E0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74280" y="3030221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0F5FD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2F6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056880" y="3075939"/>
            <a:ext cx="3259785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A2A5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Diga quantas vagas estão livres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419975" y="3597275"/>
            <a:ext cx="3956050" cy="562610"/>
          </a:xfrm>
          <a:prstGeom prst="roundRect">
            <a:avLst>
              <a:gd name="adj" fmla="val 22009"/>
            </a:avLst>
          </a:prstGeom>
          <a:solidFill>
            <a:srgbClr val="FAFCFF"/>
          </a:solidFill>
          <a:ln w="6350">
            <a:solidFill>
              <a:srgbClr val="D5E0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74280" y="3700782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0F5FD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2F6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56880" y="3746500"/>
            <a:ext cx="3259785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A2A5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Veja a resposta do computador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416800" y="4264661"/>
            <a:ext cx="3962400" cy="873760"/>
          </a:xfrm>
          <a:prstGeom prst="roundRect">
            <a:avLst>
              <a:gd name="adj" fmla="val 14535"/>
            </a:avLst>
          </a:prstGeom>
          <a:solidFill>
            <a:srgbClr val="0A2A5E"/>
          </a:solidFill>
          <a:ln/>
        </p:spPr>
        <p:txBody>
          <a:bodyPr wrap="square" lIns="140603" tIns="115203" rIns="32399" bIns="89803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F6F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Atenção: o carro branco ainda está manobrando!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DBC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2F6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que o computador fez?</a:t>
            </a:r>
            <a:endParaRPr lang="en-US" sz="4200" dirty="0"/>
          </a:p>
        </p:txBody>
      </p:sp>
      <p:pic>
        <p:nvPicPr>
          <p:cNvPr id="4" name="Image 0" descr="O mesmo estacionamento com quadrados verdes nas vagas livres, quadrados vermelhos nas ocupadas e o contador de vagas livre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92300"/>
            <a:ext cx="5588000" cy="3143250"/>
          </a:xfrm>
          <a:prstGeom prst="roundRect">
            <a:avLst>
              <a:gd name="adj" fmla="val 404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812800" y="5137150"/>
            <a:ext cx="5755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8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Verde = vaga livre · Vermelho = vaga ocupada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54800" y="1892300"/>
            <a:ext cx="4724400" cy="975360"/>
          </a:xfrm>
          <a:prstGeom prst="roundRect">
            <a:avLst>
              <a:gd name="adj" fmla="val 13021"/>
            </a:avLst>
          </a:prstGeom>
          <a:solidFill>
            <a:srgbClr val="123A7A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0" y="2044700"/>
            <a:ext cx="444754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8DBC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Viu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0" y="2430782"/>
            <a:ext cx="44475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6EEF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câmera enviou as imagens.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654800" y="2969261"/>
            <a:ext cx="4724400" cy="1259840"/>
          </a:xfrm>
          <a:prstGeom prst="roundRect">
            <a:avLst>
              <a:gd name="adj" fmla="val 10081"/>
            </a:avLst>
          </a:prstGeom>
          <a:solidFill>
            <a:srgbClr val="123A7A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0" y="3121661"/>
            <a:ext cx="444754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8DBC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Mediu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58000" y="3507739"/>
            <a:ext cx="4447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6EEF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Mãos juntas e pés afastados = 1 polichinelo. Muitos detalhes no quadrado = vaga ocupada.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654800" y="4330700"/>
            <a:ext cx="4724400" cy="975360"/>
          </a:xfrm>
          <a:prstGeom prst="roundRect">
            <a:avLst>
              <a:gd name="adj" fmla="val 13021"/>
            </a:avLst>
          </a:prstGeom>
          <a:solidFill>
            <a:srgbClr val="123A7A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0" y="4483100"/>
            <a:ext cx="444754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8DBC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Decidiu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858000" y="4869182"/>
            <a:ext cx="44475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6EEF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Contou e marcou cada vaga.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DBC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ENCERRAMENTO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1"/>
            <a:ext cx="10883392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dirty="0">
                <a:solidFill>
                  <a:srgbClr val="F2F6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Quem escreveu essas regras?</a:t>
            </a:r>
            <a:endParaRPr lang="en-US" sz="4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428239"/>
            <a:ext cx="10883392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40"/>
              </a:lnSpc>
              <a:buNone/>
            </a:pPr>
            <a:r>
              <a:rPr lang="en-US" sz="6400" b="1" i="0" dirty="0">
                <a:solidFill>
                  <a:srgbClr val="8DBC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Um analista de sistemas.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12800" y="3398521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E6EEF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Pode ser você, daqui a alguns anos.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12800" y="4500879"/>
            <a:ext cx="10566400" cy="1341120"/>
          </a:xfrm>
          <a:prstGeom prst="roundRect">
            <a:avLst>
              <a:gd name="adj" fmla="val 9470"/>
            </a:avLst>
          </a:prstGeom>
          <a:solidFill>
            <a:srgbClr val="F2F6FC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4500879"/>
            <a:ext cx="10566400" cy="1341120"/>
          </a:xfrm>
          <a:custGeom>
            <a:avLst/>
            <a:gdLst/>
            <a:ahLst/>
            <a:cxnLst/>
            <a:rect l="l" t="t" r="r" b="b"/>
            <a:pathLst>
              <a:path w="10566400" h="1341120">
                <a:moveTo>
                  <a:pt x="127000" y="1341120"/>
                </a:moveTo>
                <a:lnTo>
                  <a:pt x="127000" y="134112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50800" stAng="16200000" swAng="-5400000"/>
                <a:lnTo>
                  <a:pt x="76200" y="1214120"/>
                </a:lnTo>
                <a:arcTo hR="127000" wR="50800" stAng="10800000" swAng="-5400000"/>
                <a:close/>
              </a:path>
            </a:pathLst>
          </a:custGeom>
          <a:solidFill>
            <a:srgbClr val="D9232B"/>
          </a:solidFill>
          <a:ln/>
        </p:spPr>
      </p:sp>
      <p:sp>
        <p:nvSpPr>
          <p:cNvPr id="8" name="Text 6"/>
          <p:cNvSpPr/>
          <p:nvPr/>
        </p:nvSpPr>
        <p:spPr>
          <a:xfrm>
            <a:off x="1168400" y="4704079"/>
            <a:ext cx="102293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F5FD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CONHEÇA O CURSO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8400" y="4968242"/>
            <a:ext cx="1022934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A2A5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Tecnólogo em Análise e Desenvolvimento de Sistemas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68400" y="5354321"/>
            <a:ext cx="1022934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A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Faculdade SENAI São Carlos · profissão CBO 2124-05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DBC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Seu talento move a indústria · Faculdade SENAI Antonio Adolpho Lobbe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o Trabalho — Feira das Profissões SENAI">
  <a:themeElements>
    <a:clrScheme name="IA no Trabalho — Feira das Profissões SENAI">
      <a:dk1>
        <a:srgbClr val="0A2A5E"/>
      </a:dk1>
      <a:lt1>
        <a:srgbClr val="F2F6FC"/>
      </a:lt1>
      <a:dk2>
        <a:srgbClr val="445D86"/>
      </a:dk2>
      <a:lt2>
        <a:srgbClr val="DBE2EC"/>
      </a:lt2>
      <a:accent1>
        <a:srgbClr val="0F5FD0"/>
      </a:accent1>
      <a:accent2>
        <a:srgbClr val="3A4A66"/>
      </a:accent2>
      <a:accent3>
        <a:srgbClr val="8DBCFF"/>
      </a:accent3>
      <a:accent4>
        <a:srgbClr val="123A7A"/>
      </a:accent4>
      <a:accent5>
        <a:srgbClr val="C9D8F0"/>
      </a:accent5>
      <a:accent6>
        <a:srgbClr val="D9232B"/>
      </a:accent6>
      <a:hlink>
        <a:srgbClr val="0563C1"/>
      </a:hlink>
      <a:folHlink>
        <a:srgbClr val="954F72"/>
      </a:folHlink>
    </a:clrScheme>
    <a:fontScheme name="IA no Trabalho — Feira das Profissões SENAI">
      <a:majorFont>
        <a:latin typeface="Oswa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ublic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no Trabalho — Feira das Profissões SENAI</dc:title>
  <dc:subject/>
  <dc:creator/>
  <cp:lastModifiedBy/>
  <cp:revision>1</cp:revision>
  <dcterms:created xsi:type="dcterms:W3CDTF">2026-10-19T01:22:26Z</dcterms:created>
  <dcterms:modified xsi:type="dcterms:W3CDTF">2026-10-19T01:22:26Z</dcterms:modified>
</cp:coreProperties>
</file>